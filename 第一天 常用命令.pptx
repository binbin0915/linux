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53" r:id="rId3"/>
    <p:sldId id="471" r:id="rId4"/>
    <p:sldId id="488" r:id="rId5"/>
    <p:sldId id="489" r:id="rId6"/>
    <p:sldId id="490" r:id="rId7"/>
    <p:sldId id="469" r:id="rId8"/>
    <p:sldId id="306" r:id="rId9"/>
    <p:sldId id="316" r:id="rId10"/>
    <p:sldId id="416" r:id="rId11"/>
    <p:sldId id="411" r:id="rId12"/>
    <p:sldId id="414" r:id="rId13"/>
    <p:sldId id="406" r:id="rId14"/>
    <p:sldId id="441" r:id="rId15"/>
    <p:sldId id="443" r:id="rId16"/>
    <p:sldId id="444" r:id="rId17"/>
    <p:sldId id="445" r:id="rId18"/>
    <p:sldId id="446" r:id="rId19"/>
    <p:sldId id="447" r:id="rId20"/>
    <p:sldId id="403" r:id="rId21"/>
    <p:sldId id="304" r:id="rId22"/>
    <p:sldId id="305" r:id="rId23"/>
  </p:sldIdLst>
  <p:sldSz cx="24384000" cy="13716000"/>
  <p:notesSz cx="6858000" cy="9144000"/>
  <p:defaultTextStyle>
    <a:lvl1pPr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1pPr>
    <a:lvl2pPr indent="228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2pPr>
    <a:lvl3pPr indent="457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3pPr>
    <a:lvl4pPr indent="685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4pPr>
    <a:lvl5pPr indent="9144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5pPr>
    <a:lvl6pPr indent="11430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6pPr>
    <a:lvl7pPr indent="1371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7pPr>
    <a:lvl8pPr indent="1600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8pPr>
    <a:lvl9pPr indent="1828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课件首页" id="{BCC0DC43-B8A6-A444-B6D9-699BE3B1606E}">
          <p14:sldIdLst>
            <p14:sldId id="453"/>
            <p14:sldId id="471"/>
            <p14:sldId id="488"/>
            <p14:sldId id="489"/>
            <p14:sldId id="490"/>
            <p14:sldId id="469"/>
            <p14:sldId id="306"/>
          </p14:sldIdLst>
        </p14:section>
        <p14:section name="课时 1" id="{9359586E-A46A-2441-8D4F-4630A70B68E2}">
          <p14:sldIdLst>
            <p14:sldId id="316"/>
          </p14:sldIdLst>
        </p14:section>
        <p14:section name="课时 2" id="{E09FB4B2-AC10-4B4C-A7B3-BC52588538B4}">
          <p14:sldIdLst>
            <p14:sldId id="416"/>
          </p14:sldIdLst>
        </p14:section>
        <p14:section name="课时 3" id="{0249701D-8A06-4A06-BA5E-784D0E298952}">
          <p14:sldIdLst>
            <p14:sldId id="411"/>
            <p14:sldId id="414"/>
          </p14:sldIdLst>
        </p14:section>
        <p14:section name="课时 4" id="{A838CB28-698C-4ED4-98C7-53E10DAD72AD}">
          <p14:sldIdLst>
            <p14:sldId id="406"/>
            <p14:sldId id="441"/>
            <p14:sldId id="443"/>
            <p14:sldId id="444"/>
            <p14:sldId id="445"/>
            <p14:sldId id="446"/>
            <p14:sldId id="447"/>
          </p14:sldIdLst>
        </p14:section>
        <p14:section name="课时 5" id="{75245455-0D4A-9946-BDBB-21627299AE52}">
          <p14:sldIdLst>
            <p14:sldId id="403"/>
          </p14:sldIdLst>
        </p14:section>
        <p14:section name="课程结尾页" id="{DE80566A-9A67-BE4F-919D-495C67416F22}">
          <p14:sldIdLst>
            <p14:sldId id="304"/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666666"/>
    <a:srgbClr val="2EAA46"/>
    <a:srgbClr val="FF5C00"/>
    <a:srgbClr val="535353"/>
    <a:srgbClr val="35B558"/>
    <a:srgbClr val="F9F9F9"/>
    <a:srgbClr val="F4F4F4"/>
    <a:srgbClr val="8881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2" autoAdjust="0"/>
    <p:restoredTop sz="94110" autoAdjust="0"/>
  </p:normalViewPr>
  <p:slideViewPr>
    <p:cSldViewPr snapToObjects="1">
      <p:cViewPr varScale="1">
        <p:scale>
          <a:sx n="35" d="100"/>
          <a:sy n="35" d="100"/>
        </p:scale>
        <p:origin x="-270" y="-72"/>
      </p:cViewPr>
      <p:guideLst>
        <p:guide orient="horz" pos="1598"/>
        <p:guide pos="649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4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B203-4CDB-4C76-B92E-144974F547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4A21C-9427-4822-82A8-5167E72086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单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4656035" y="3716425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-7200" y="5641200"/>
            <a:ext cx="24393600" cy="1728000"/>
          </a:xfrm>
        </p:spPr>
        <p:txBody>
          <a:bodyPr anchor="ctr">
            <a:noAutofit/>
          </a:bodyPr>
          <a:lstStyle>
            <a:lvl1pPr algn="ctr">
              <a:defRPr sz="1280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r>
              <a:rPr lang="zh-CN" altLang="en-US" dirty="0" smtClean="0"/>
              <a:t>课程主标题 单行</a:t>
            </a:r>
            <a:endParaRPr lang="zh-CN" altLang="en-US" dirty="0"/>
          </a:p>
        </p:txBody>
      </p:sp>
      <p:pic>
        <p:nvPicPr>
          <p:cNvPr id="6" name="图片 5" descr="白色XD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6985" y="3716020"/>
            <a:ext cx="7078980" cy="1194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双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89760" y="5842800"/>
            <a:ext cx="20871040" cy="2955760"/>
          </a:xfrm>
        </p:spPr>
        <p:txBody>
          <a:bodyPr anchor="t"/>
          <a:lstStyle>
            <a:lvl1pPr marL="0" marR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600" baseline="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pPr marL="0" marR="0" lvl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lang="zh-CN" altLang="en-US" sz="9600" dirty="0" smtClean="0">
                <a:solidFill>
                  <a:srgbClr val="FFFFFF"/>
                </a:solidFill>
              </a:rPr>
              <a:t>课程主标题 双行</a:t>
            </a:r>
            <a:br>
              <a:rPr lang="en-US" altLang="zh-CN" sz="9600" dirty="0" smtClean="0">
                <a:solidFill>
                  <a:srgbClr val="FFFFFF"/>
                </a:solidFill>
              </a:rPr>
            </a:br>
            <a:r>
              <a:rPr lang="zh-CN" altLang="en-US" sz="9600" dirty="0" smtClean="0">
                <a:solidFill>
                  <a:srgbClr val="FFFFFF"/>
                </a:solidFill>
              </a:rPr>
              <a:t>标题过长为两行时用此页</a:t>
            </a:r>
            <a:br>
              <a:rPr lang="zh-CN" altLang="en-US" sz="9600" dirty="0" smtClean="0">
                <a:solidFill>
                  <a:srgbClr val="FFFFFF"/>
                </a:solidFill>
              </a:rPr>
            </a:br>
            <a:endParaRPr lang="zh-CN" altLang="en-US" sz="9600" dirty="0">
              <a:solidFill>
                <a:srgbClr val="FFFFFF"/>
              </a:solidFill>
            </a:endParaRPr>
          </a:p>
        </p:txBody>
      </p:sp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566000" y="4075200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课程主标题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课程概要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第一课时名称</a:t>
            </a:r>
            <a:endParaRPr lang="en-US" altLang="zh-CN" dirty="0" smtClean="0"/>
          </a:p>
          <a:p>
            <a:r>
              <a:rPr lang="zh-CN" altLang="en-US" dirty="0" smtClean="0"/>
              <a:t>第二课时名称</a:t>
            </a:r>
            <a:endParaRPr lang="en-US" altLang="zh-CN" dirty="0" smtClean="0"/>
          </a:p>
          <a:p>
            <a:r>
              <a:rPr lang="zh-CN" altLang="en-US" dirty="0" smtClean="0"/>
              <a:t>第三课时名称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uiExpand="1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首页-课时标题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dirty="0" smtClean="0"/>
              <a:t>课程主标题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12400" y="4899600"/>
            <a:ext cx="23958000" cy="1580400"/>
          </a:xfrm>
        </p:spPr>
        <p:txBody>
          <a:bodyPr anchor="ctr">
            <a:noAutofit/>
          </a:bodyPr>
          <a:lstStyle>
            <a:lvl1pPr marL="190500" indent="0" algn="ctr">
              <a:lnSpc>
                <a:spcPct val="140000"/>
              </a:lnSpc>
              <a:spcBef>
                <a:spcPts val="0"/>
              </a:spcBef>
              <a:buClr>
                <a:srgbClr val="35B558"/>
              </a:buClr>
              <a:buSzPct val="105000"/>
              <a:buFontTx/>
              <a:buNone/>
              <a:defRPr sz="9600" baseline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课时标题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课时知识点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一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marR="0" indent="0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无项目符号课件正文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二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 noChangeAspect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带项目符号内容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三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41600"/>
            <a:ext cx="22201200" cy="10119600"/>
          </a:xfrm>
        </p:spPr>
        <p:txBody>
          <a:bodyPr anchor="t">
            <a:noAutofit/>
          </a:bodyPr>
          <a:lstStyle>
            <a:lvl1pPr marL="687705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None/>
              <a:defRPr sz="4800" baseline="0">
                <a:solidFill>
                  <a:srgbClr val="535353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自由发挥区域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总结模板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54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sz="5400" dirty="0" smtClean="0">
                <a:solidFill>
                  <a:srgbClr val="666666"/>
                </a:solidFill>
              </a:rPr>
              <a:t>课程主标题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indent="0" algn="l">
              <a:lnSpc>
                <a:spcPct val="140000"/>
              </a:lnSpc>
              <a:spcBef>
                <a:spcPts val="0"/>
              </a:spcBef>
              <a:buNone/>
              <a:defRPr sz="480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课程总结内容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课件尾页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jpg" descr="C:\Users\Administrator\Desktop\极客学院资料\最终版2.png最终版2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160" y="0"/>
            <a:ext cx="2436368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200" dirty="0" err="1">
                <a:solidFill>
                  <a:srgbClr val="FFFFFF"/>
                </a:solidFill>
              </a:rPr>
              <a:t>标题文本</a:t>
            </a:r>
            <a:endParaRPr sz="11200" dirty="0">
              <a:solidFill>
                <a:srgbClr val="FFFFFF"/>
              </a:solidFill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1</a:t>
            </a:r>
            <a:endParaRPr sz="5200" dirty="0">
              <a:solidFill>
                <a:srgbClr val="FFFFFF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2</a:t>
            </a:r>
            <a:endParaRPr sz="5200" dirty="0">
              <a:solidFill>
                <a:srgbClr val="FFFFFF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3</a:t>
            </a:r>
            <a:endParaRPr sz="5200" dirty="0">
              <a:solidFill>
                <a:srgbClr val="FFFFFF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4</a:t>
            </a:r>
            <a:endParaRPr sz="5200" dirty="0">
              <a:solidFill>
                <a:srgbClr val="FFFFFF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5</a:t>
            </a:r>
            <a:endParaRPr sz="5200" dirty="0">
              <a:solidFill>
                <a:srgbClr val="FFFFFF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iming>
    <p:tnLst>
      <p:par>
        <p:cTn id="1" dur="indefinite" restart="never" nodeType="tmRoot"/>
      </p:par>
    </p:tnLst>
  </p:timing>
  <p:txStyles>
    <p:titleStyle>
      <a:lvl1pPr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titleStyle>
    <p:bodyStyle>
      <a:lvl1pPr marL="63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marL="127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marL="190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marL="254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marL="317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381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marL="444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marL="508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marL="571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bodyStyle>
    <p:otherStyle>
      <a:lvl1pPr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阶段学习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阶段学习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3070225" y="3044190"/>
            <a:ext cx="1775841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zh-CN" altLang="en-US" dirty="0" smtClean="0"/>
              <a:t>学习目标</a:t>
            </a:r>
            <a:endParaRPr lang="zh-CN" altLang="en-US" dirty="0" smtClean="0"/>
          </a:p>
          <a:p>
            <a:r>
              <a:rPr lang="zh-CN" altLang="en-US" dirty="0" smtClean="0"/>
              <a:t>学习重点</a:t>
            </a:r>
            <a:endParaRPr lang="zh-CN" altLang="en-US" dirty="0" smtClean="0"/>
          </a:p>
          <a:p>
            <a:r>
              <a:rPr lang="zh-CN" altLang="en-US" dirty="0" smtClean="0"/>
              <a:t>学习环境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>
                <a:sym typeface="+mn-ea"/>
              </a:rPr>
              <a:t>学习目标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3070225" y="3044190"/>
            <a:ext cx="1775841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zh-CN" altLang="zh-CN" dirty="0" smtClean="0"/>
              <a:t>能够使用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系统，进行</a:t>
            </a:r>
            <a:r>
              <a:rPr lang="en-US" altLang="zh-CN" dirty="0" smtClean="0"/>
              <a:t>PHP</a:t>
            </a:r>
            <a:r>
              <a:rPr lang="zh-CN" altLang="en-US" dirty="0" smtClean="0"/>
              <a:t>程序开发</a:t>
            </a:r>
            <a:endParaRPr lang="zh-CN" altLang="en-US" dirty="0" smtClean="0"/>
          </a:p>
          <a:p>
            <a:r>
              <a:rPr lang="zh-CN" altLang="en-US" dirty="0" smtClean="0"/>
              <a:t>能够对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服务器进行日常维护管理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>
                <a:sym typeface="+mn-ea"/>
              </a:rPr>
              <a:t>学习重点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3070225" y="3044190"/>
            <a:ext cx="1775841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altLang="zh-CN" dirty="0" smtClean="0"/>
              <a:t>Linux </a:t>
            </a:r>
            <a:r>
              <a:rPr lang="zh-CN" altLang="en-US" dirty="0" smtClean="0"/>
              <a:t>常用命令</a:t>
            </a:r>
            <a:endParaRPr lang="zh-CN" altLang="en-US" dirty="0" smtClean="0"/>
          </a:p>
          <a:p>
            <a:r>
              <a:rPr lang="en-US" altLang="zh-CN" dirty="0" smtClean="0"/>
              <a:t>Linux </a:t>
            </a:r>
            <a:r>
              <a:rPr lang="zh-CN" altLang="en-US" dirty="0" smtClean="0"/>
              <a:t>系统管理</a:t>
            </a:r>
            <a:endParaRPr lang="zh-CN" altLang="en-US" dirty="0" smtClean="0"/>
          </a:p>
          <a:p>
            <a:r>
              <a:rPr lang="en-US" altLang="zh-CN" dirty="0" smtClean="0"/>
              <a:t>Linux </a:t>
            </a:r>
            <a:r>
              <a:rPr lang="zh-CN" altLang="en-US" dirty="0" smtClean="0"/>
              <a:t>网络应用</a:t>
            </a:r>
            <a:endParaRPr lang="zh-CN" altLang="en-US" dirty="0" smtClean="0"/>
          </a:p>
          <a:p>
            <a:r>
              <a:rPr lang="en-US" altLang="zh-CN" dirty="0" smtClean="0"/>
              <a:t>LAMP</a:t>
            </a:r>
            <a:r>
              <a:rPr lang="zh-CN" altLang="en-US" dirty="0" smtClean="0"/>
              <a:t>产品级环境搭建</a:t>
            </a:r>
            <a:endParaRPr lang="zh-CN" altLang="en-US" dirty="0" smtClean="0"/>
          </a:p>
          <a:p>
            <a:r>
              <a:rPr lang="en-US" altLang="zh-CN" dirty="0" smtClean="0"/>
              <a:t>Apache</a:t>
            </a:r>
            <a:r>
              <a:rPr lang="zh-CN" altLang="en-US" dirty="0" smtClean="0"/>
              <a:t>服务配置</a:t>
            </a:r>
            <a:endParaRPr lang="zh-CN" altLang="en-US" dirty="0" smtClean="0"/>
          </a:p>
          <a:p>
            <a:r>
              <a:rPr lang="en-US" altLang="zh-CN" dirty="0" smtClean="0"/>
              <a:t>LNMP</a:t>
            </a:r>
            <a:r>
              <a:rPr lang="zh-CN" altLang="en-US" dirty="0" smtClean="0"/>
              <a:t>环境快速部署</a:t>
            </a:r>
            <a:r>
              <a:rPr lang="en-US" altLang="zh-CN" dirty="0" smtClean="0"/>
              <a:t>-Nginx</a:t>
            </a:r>
            <a:r>
              <a:rPr lang="zh-CN" altLang="en-US" dirty="0" smtClean="0"/>
              <a:t>服务配置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>
                <a:sym typeface="+mn-ea"/>
              </a:rPr>
              <a:t>学习环境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3070225" y="3044190"/>
            <a:ext cx="1775841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altLang="zh-CN" dirty="0" smtClean="0"/>
              <a:t>Windows</a:t>
            </a:r>
            <a:endParaRPr lang="en-US" altLang="zh-CN" dirty="0" smtClean="0"/>
          </a:p>
          <a:p>
            <a:r>
              <a:rPr lang="en-US" altLang="zh-CN" dirty="0" smtClean="0"/>
              <a:t>VMware</a:t>
            </a:r>
            <a:endParaRPr lang="en-US" altLang="zh-CN" dirty="0" smtClean="0"/>
          </a:p>
          <a:p>
            <a:r>
              <a:rPr lang="en-US" altLang="zh-CN" dirty="0" smtClean="0"/>
              <a:t>Linux    CentOS6.8</a:t>
            </a:r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常用命令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4" name="副标题 2"/>
          <p:cNvSpPr>
            <a:spLocks noGrp="1"/>
          </p:cNvSpPr>
          <p:nvPr/>
        </p:nvSpPr>
        <p:spPr>
          <a:xfrm>
            <a:off x="13310870" y="3044190"/>
            <a:ext cx="760603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zh-CN" altLang="en-US" dirty="0" smtClean="0">
                <a:sym typeface="+mn-ea"/>
              </a:rPr>
              <a:t>查找命令</a:t>
            </a:r>
            <a:endParaRPr lang="zh-CN" altLang="en-US" dirty="0" smtClean="0"/>
          </a:p>
          <a:p>
            <a:r>
              <a:rPr lang="zh-CN" altLang="en-US" dirty="0" smtClean="0">
                <a:sym typeface="+mn-ea"/>
              </a:rPr>
              <a:t>压缩与解压缩</a:t>
            </a:r>
            <a:endParaRPr lang="zh-CN" altLang="en-US" dirty="0" smtClean="0"/>
          </a:p>
          <a:p>
            <a:r>
              <a:rPr lang="zh-CN" altLang="en-US" dirty="0" smtClean="0">
                <a:sym typeface="+mn-ea"/>
              </a:rPr>
              <a:t>关闭和重启命令</a:t>
            </a:r>
            <a:endParaRPr lang="zh-CN" altLang="en-US" dirty="0" smtClean="0"/>
          </a:p>
          <a:p>
            <a:r>
              <a:rPr lang="zh-CN" altLang="en-US" dirty="0" smtClean="0">
                <a:sym typeface="+mn-ea"/>
              </a:rPr>
              <a:t>挂载命令</a:t>
            </a:r>
            <a:endParaRPr lang="zh-CN" altLang="en-US" dirty="0" smtClean="0"/>
          </a:p>
          <a:p>
            <a:r>
              <a:rPr lang="zh-CN" altLang="en-US" dirty="0" smtClean="0">
                <a:sym typeface="+mn-ea"/>
              </a:rPr>
              <a:t>网络命令</a:t>
            </a:r>
            <a:endParaRPr lang="zh-CN" altLang="en-US" dirty="0" smtClean="0"/>
          </a:p>
          <a:p>
            <a:r>
              <a:rPr lang="en-US" altLang="zh-CN" dirty="0" smtClean="0">
                <a:sym typeface="+mn-ea"/>
              </a:rPr>
              <a:t>Vim</a:t>
            </a:r>
            <a:r>
              <a:rPr lang="zh-CN" altLang="en-US" dirty="0" smtClean="0">
                <a:sym typeface="+mn-ea"/>
              </a:rPr>
              <a:t>文本编辑器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3070225" y="3044190"/>
            <a:ext cx="760603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altLang="zh-CN" dirty="0" smtClean="0"/>
              <a:t>Linux</a:t>
            </a:r>
            <a:r>
              <a:rPr lang="zh-CN" altLang="zh-CN" dirty="0" smtClean="0"/>
              <a:t>系统安装</a:t>
            </a:r>
            <a:endParaRPr lang="zh-CN" altLang="zh-CN" dirty="0" smtClean="0"/>
          </a:p>
          <a:p>
            <a:r>
              <a:rPr lang="zh-CN" altLang="en-US" dirty="0" smtClean="0"/>
              <a:t>目录操作命令</a:t>
            </a:r>
            <a:endParaRPr lang="zh-CN" altLang="en-US" dirty="0" smtClean="0"/>
          </a:p>
          <a:p>
            <a:r>
              <a:rPr lang="zh-CN" altLang="en-US" dirty="0" smtClean="0"/>
              <a:t>文件操作命令</a:t>
            </a:r>
            <a:endParaRPr lang="zh-CN" altLang="en-US" dirty="0" smtClean="0"/>
          </a:p>
          <a:p>
            <a:r>
              <a:rPr lang="zh-CN" altLang="en-US" dirty="0" smtClean="0"/>
              <a:t>文件和目录操作命令</a:t>
            </a:r>
            <a:endParaRPr lang="zh-CN" altLang="en-US" dirty="0" smtClean="0"/>
          </a:p>
          <a:p>
            <a:r>
              <a:rPr lang="zh-CN" altLang="en-US" dirty="0" smtClean="0"/>
              <a:t>权限管理与命令</a:t>
            </a:r>
            <a:endParaRPr lang="zh-CN" altLang="en-US" dirty="0" smtClean="0"/>
          </a:p>
          <a:p>
            <a:r>
              <a:rPr lang="zh-CN" altLang="en-US" dirty="0" smtClean="0"/>
              <a:t>帮助命令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Linux</a:t>
            </a:r>
            <a:r>
              <a:rPr kumimoji="1" lang="zh-CN" altLang="en-US" dirty="0" smtClean="0"/>
              <a:t>系统安装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目录操作命令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文件操作命令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文件和目录操作命令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权限管理与命令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帮助命令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查找命令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压缩与解压缩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关闭和重启命令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挂载命令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>
              <a:latin typeface="Noto Sans CJK SC Regular" panose="020B0500000000000000" pitchFamily="34" charset="-122"/>
              <a:ea typeface="Noto Sans CJK SC Regular" panose="020B0500000000000000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网络命令</a:t>
            </a:r>
            <a:endParaRPr kumimoji="1" lang="zh-CN" altLang="zh-CN" dirty="0" smtClean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常用命令</a:t>
            </a:r>
            <a:endParaRPr kumimoji="1" lang="zh-CN" altLang="en-US" dirty="0">
              <a:latin typeface="Noto Sans CJK SC Regular" panose="020B0500000000000000" pitchFamily="34" charset="-122"/>
              <a:ea typeface="Noto Sans CJK SC Regular" panose="020B0500000000000000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Vim</a:t>
            </a:r>
            <a:r>
              <a:rPr lang="zh-CN" altLang="zh-CN" dirty="0" smtClean="0">
                <a:sym typeface="+mn-ea"/>
              </a:rPr>
              <a:t>文本编辑器</a:t>
            </a:r>
            <a:endParaRPr kumimoji="1" lang="en-US" altLang="zh-CN" dirty="0" smtClean="0">
              <a:latin typeface="Noto Sans CJK SC Regular" panose="020B0500000000000000" pitchFamily="34" charset="-122"/>
              <a:ea typeface="Noto Sans CJK SC Regular" panose="020B05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>
            <a:spLocks noGrp="1"/>
          </p:cNvSpPr>
          <p:nvPr/>
        </p:nvSpPr>
        <p:spPr>
          <a:xfrm>
            <a:off x="1031395" y="2538155"/>
            <a:ext cx="22201200" cy="10281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Autofit/>
          </a:bodyPr>
          <a:lstStyle>
            <a:lvl1pPr marL="0" indent="0" algn="l" defTabSz="824865" eaLnBrk="1" hangingPunct="1">
              <a:lnSpc>
                <a:spcPct val="140000"/>
              </a:lnSpc>
              <a:spcBef>
                <a:spcPts val="0"/>
              </a:spcBef>
              <a:buSzPct val="75000"/>
              <a:buNone/>
              <a:defRPr sz="480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zh-CN" altLang="en-US" dirty="0" smtClean="0"/>
              <a:t>本</a:t>
            </a:r>
            <a:r>
              <a:rPr lang="zh-CN" altLang="en-US" dirty="0"/>
              <a:t>套课程中我们</a:t>
            </a:r>
            <a:r>
              <a:rPr lang="zh-CN" altLang="en-US" dirty="0" smtClean="0"/>
              <a:t>学习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常用命令。</a:t>
            </a:r>
            <a:r>
              <a:rPr lang="zh-CN" altLang="en-US" dirty="0"/>
              <a:t>你应当掌握以下知识：</a:t>
            </a:r>
            <a:endParaRPr lang="zh-CN" altLang="en-US" dirty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r>
              <a:rPr lang="zh-CN" altLang="en-US" dirty="0" smtClean="0"/>
              <a:t>你可以通过这些知识使用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操作系统，如果想继续提高，你可以继续在极客学院学习</a:t>
            </a:r>
            <a:r>
              <a:rPr lang="en-US" altLang="zh-CN" dirty="0" smtClean="0"/>
              <a:t>PHP</a:t>
            </a:r>
            <a:r>
              <a:rPr lang="zh-CN" altLang="en-US" dirty="0" smtClean="0"/>
              <a:t>工程师就业班课程。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本</a:t>
            </a:r>
            <a:r>
              <a:rPr lang="zh-CN" altLang="en-US" dirty="0"/>
              <a:t>套课程中我们</a:t>
            </a:r>
            <a:r>
              <a:rPr lang="zh-CN" altLang="en-US" dirty="0" smtClean="0"/>
              <a:t>学习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常用命令。</a:t>
            </a:r>
            <a:r>
              <a:rPr lang="zh-CN" altLang="en-US" dirty="0"/>
              <a:t>你应当掌握以下知识：</a:t>
            </a:r>
            <a:endParaRPr lang="zh-CN" altLang="en-US" dirty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/>
        </p:nvSpPr>
        <p:spPr>
          <a:xfrm>
            <a:off x="1691005" y="3771900"/>
            <a:ext cx="760603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altLang="zh-CN" sz="4400" dirty="0" smtClean="0"/>
              <a:t>Linux</a:t>
            </a:r>
            <a:r>
              <a:rPr lang="zh-CN" altLang="en-US" sz="4400" dirty="0" smtClean="0"/>
              <a:t>系统安装</a:t>
            </a:r>
            <a:endParaRPr lang="zh-CN" altLang="en-US" sz="4400" dirty="0" smtClean="0"/>
          </a:p>
          <a:p>
            <a:r>
              <a:rPr lang="zh-CN" altLang="en-US" sz="4400" dirty="0" smtClean="0"/>
              <a:t>目录操作命令</a:t>
            </a:r>
            <a:endParaRPr lang="zh-CN" altLang="en-US" sz="4400" dirty="0" smtClean="0"/>
          </a:p>
          <a:p>
            <a:r>
              <a:rPr lang="zh-CN" altLang="en-US" sz="4400" dirty="0" smtClean="0"/>
              <a:t>文件操作命令</a:t>
            </a:r>
            <a:endParaRPr lang="zh-CN" altLang="en-US" sz="4400" dirty="0" smtClean="0"/>
          </a:p>
          <a:p>
            <a:r>
              <a:rPr lang="zh-CN" altLang="en-US" sz="4400" dirty="0" smtClean="0"/>
              <a:t>文件和目录操作命令</a:t>
            </a:r>
            <a:endParaRPr lang="zh-CN" altLang="en-US" sz="4400" dirty="0" smtClean="0"/>
          </a:p>
          <a:p>
            <a:r>
              <a:rPr lang="zh-CN" altLang="en-US" sz="4400" dirty="0" smtClean="0"/>
              <a:t>权限管理与命令</a:t>
            </a:r>
            <a:endParaRPr lang="zh-CN" altLang="en-US" sz="4400" dirty="0" smtClean="0"/>
          </a:p>
          <a:p>
            <a:r>
              <a:rPr lang="zh-CN" altLang="en-US" sz="4400" dirty="0" smtClean="0"/>
              <a:t>帮助命令</a:t>
            </a:r>
            <a:endParaRPr lang="zh-CN" altLang="en-US" sz="4400" dirty="0" smtClean="0"/>
          </a:p>
          <a:p>
            <a:endParaRPr lang="zh-CN" altLang="en-US" dirty="0" smtClean="0"/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9297035" y="3771900"/>
            <a:ext cx="760603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zh-CN" altLang="en-US" sz="4400" dirty="0" smtClean="0">
                <a:sym typeface="+mn-ea"/>
              </a:rPr>
              <a:t>查找命令</a:t>
            </a:r>
            <a:endParaRPr lang="zh-CN" altLang="en-US" sz="4400" dirty="0" smtClean="0">
              <a:sym typeface="+mn-ea"/>
            </a:endParaRPr>
          </a:p>
          <a:p>
            <a:r>
              <a:rPr lang="zh-CN" altLang="en-US" sz="4400" dirty="0" smtClean="0">
                <a:sym typeface="+mn-ea"/>
              </a:rPr>
              <a:t>压缩与解压缩</a:t>
            </a:r>
            <a:endParaRPr lang="zh-CN" altLang="en-US" sz="4400" dirty="0" smtClean="0">
              <a:sym typeface="+mn-ea"/>
            </a:endParaRPr>
          </a:p>
          <a:p>
            <a:r>
              <a:rPr lang="zh-CN" altLang="en-US" sz="4400" dirty="0" smtClean="0">
                <a:sym typeface="+mn-ea"/>
              </a:rPr>
              <a:t>关闭和重启命令</a:t>
            </a:r>
            <a:endParaRPr lang="zh-CN" altLang="en-US" sz="4400" dirty="0" smtClean="0">
              <a:sym typeface="+mn-ea"/>
            </a:endParaRPr>
          </a:p>
          <a:p>
            <a:r>
              <a:rPr lang="zh-CN" altLang="en-US" sz="4400" dirty="0" smtClean="0">
                <a:sym typeface="+mn-ea"/>
              </a:rPr>
              <a:t>挂载命令</a:t>
            </a:r>
            <a:endParaRPr lang="zh-CN" altLang="en-US" sz="4400" dirty="0" smtClean="0">
              <a:sym typeface="+mn-ea"/>
            </a:endParaRPr>
          </a:p>
          <a:p>
            <a:r>
              <a:rPr lang="zh-CN" altLang="en-US" sz="4400" dirty="0" smtClean="0">
                <a:sym typeface="+mn-ea"/>
              </a:rPr>
              <a:t>网络命令</a:t>
            </a:r>
            <a:endParaRPr lang="zh-CN" altLang="en-US" sz="4400" dirty="0" smtClean="0">
              <a:sym typeface="+mn-ea"/>
            </a:endParaRPr>
          </a:p>
          <a:p>
            <a:r>
              <a:rPr lang="en-US" altLang="zh-CN" sz="4800" dirty="0" smtClean="0">
                <a:sym typeface="+mn-ea"/>
              </a:rPr>
              <a:t>Vim</a:t>
            </a:r>
            <a:r>
              <a:rPr lang="zh-CN" altLang="en-US" sz="4800" dirty="0" smtClean="0">
                <a:sym typeface="+mn-ea"/>
              </a:rPr>
              <a:t>文本编辑器</a:t>
            </a:r>
            <a:endParaRPr lang="zh-CN" altLang="en-US" sz="4800" dirty="0" smtClean="0">
              <a:sym typeface="+mn-ea"/>
            </a:endParaRPr>
          </a:p>
          <a:p>
            <a:endParaRPr lang="zh-CN" altLang="en-US" dirty="0" smtClean="0"/>
          </a:p>
          <a:p>
            <a:endParaRPr lang="zh-CN" altLang="en-US" dirty="0" smtClean="0"/>
          </a:p>
        </p:txBody>
      </p:sp>
      <p:sp>
        <p:nvSpPr>
          <p:cNvPr id="7" name="副标题 2"/>
          <p:cNvSpPr>
            <a:spLocks noGrp="1"/>
          </p:cNvSpPr>
          <p:nvPr/>
        </p:nvSpPr>
        <p:spPr>
          <a:xfrm>
            <a:off x="1691640" y="3772535"/>
            <a:ext cx="7606030" cy="92017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norm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  <a:cs typeface="+mn-cs"/>
                <a:sym typeface="Helvetica Light"/>
              </a:defRPr>
            </a:lvl1pPr>
            <a:lvl2pPr marL="457200" indent="0" algn="ctr" defTabSz="824865" eaLnBrk="1" hangingPunct="1">
              <a:spcBef>
                <a:spcPts val="5900"/>
              </a:spcBef>
              <a:buSzPct val="75000"/>
              <a:buNone/>
              <a:defRPr sz="2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2pPr>
            <a:lvl3pPr marL="914400" indent="0" algn="ctr" defTabSz="824865" eaLnBrk="1" hangingPunct="1">
              <a:spcBef>
                <a:spcPts val="5900"/>
              </a:spcBef>
              <a:buSzPct val="75000"/>
              <a:buNone/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3pPr>
            <a:lvl4pPr marL="1371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4pPr>
            <a:lvl5pPr marL="18288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5pPr>
            <a:lvl6pPr marL="22860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6pPr>
            <a:lvl7pPr marL="27432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7pPr>
            <a:lvl8pPr marL="32004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8pPr>
            <a:lvl9pPr marL="3657600" indent="0" algn="ctr" defTabSz="824865" eaLnBrk="1" hangingPunct="1">
              <a:spcBef>
                <a:spcPts val="5900"/>
              </a:spcBef>
              <a:buSzPct val="75000"/>
              <a:buNone/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altLang="zh-CN" sz="4400" dirty="0" smtClean="0"/>
              <a:t>Linux</a:t>
            </a:r>
            <a:r>
              <a:rPr lang="zh-CN" altLang="en-US" sz="4400" dirty="0" smtClean="0"/>
              <a:t>系统安装</a:t>
            </a:r>
            <a:endParaRPr lang="zh-CN" altLang="en-US" sz="4400" dirty="0" smtClean="0"/>
          </a:p>
          <a:p>
            <a:r>
              <a:rPr lang="zh-CN" altLang="en-US" sz="4400" dirty="0" smtClean="0"/>
              <a:t>目录操作命令</a:t>
            </a:r>
            <a:endParaRPr lang="zh-CN" altLang="en-US" sz="4400" dirty="0" smtClean="0"/>
          </a:p>
          <a:p>
            <a:r>
              <a:rPr lang="zh-CN" altLang="en-US" sz="4400" dirty="0" smtClean="0"/>
              <a:t>文件操作命令</a:t>
            </a:r>
            <a:endParaRPr lang="zh-CN" altLang="en-US" sz="4400" dirty="0" smtClean="0"/>
          </a:p>
          <a:p>
            <a:r>
              <a:rPr lang="zh-CN" altLang="en-US" sz="4400" dirty="0" smtClean="0"/>
              <a:t>文件和目录操作命令</a:t>
            </a:r>
            <a:endParaRPr lang="zh-CN" altLang="en-US" sz="4400" dirty="0" smtClean="0"/>
          </a:p>
          <a:p>
            <a:r>
              <a:rPr lang="zh-CN" altLang="en-US" sz="4400" dirty="0" smtClean="0"/>
              <a:t>权限管理与命令</a:t>
            </a:r>
            <a:endParaRPr lang="zh-CN" altLang="en-US" sz="4400" dirty="0" smtClean="0"/>
          </a:p>
          <a:p>
            <a:r>
              <a:rPr lang="zh-CN" altLang="en-US" sz="4400" dirty="0" smtClean="0"/>
              <a:t>帮助命令</a:t>
            </a:r>
            <a:endParaRPr lang="zh-CN" altLang="en-US" sz="4400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50800">
          <a:solidFill>
            <a:srgbClr val="8881F0"/>
          </a:solidFill>
          <a:miter lim="800000"/>
        </a:ln>
      </a:spPr>
      <a:bodyPr/>
      <a:lstStyle>
        <a:defPPr marL="0" indent="0" algn="l">
          <a:buNone/>
          <a:defRPr sz="4800" dirty="0" smtClean="0">
            <a:solidFill>
              <a:srgbClr val="666666"/>
            </a:solidFill>
            <a:latin typeface="Noto Sans CJK SC Regular" panose="020B0500000000000000" pitchFamily="34" charset="-122"/>
            <a:ea typeface="Noto Sans CJK SC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PPT模板V2-Windows-PowerPoint-PPT</Template>
  <TotalTime>0</TotalTime>
  <Words>738</Words>
  <Application>WPS 演示</Application>
  <PresentationFormat>自定义</PresentationFormat>
  <Paragraphs>158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Helvetica Light</vt:lpstr>
      <vt:lpstr>Noto Sans CJK SC Regular</vt:lpstr>
      <vt:lpstr>Noto Sans CJK SC Black</vt:lpstr>
      <vt:lpstr>Noto Sans CJK SC Light</vt:lpstr>
      <vt:lpstr>Noto Sans CJK SC Bold</vt:lpstr>
      <vt:lpstr>Avenir Roman</vt:lpstr>
      <vt:lpstr>微软雅黑</vt:lpstr>
      <vt:lpstr>Helvetica Light</vt:lpstr>
      <vt:lpstr>Segoe Print</vt:lpstr>
      <vt:lpstr>Black</vt:lpstr>
      <vt:lpstr>Linux阶段学习</vt:lpstr>
      <vt:lpstr>Linux阶段学习— 课程概要</vt:lpstr>
      <vt:lpstr>Linux学习目标— 课程概要</vt:lpstr>
      <vt:lpstr>Linux学习重点— 课程概要</vt:lpstr>
      <vt:lpstr>Linux学习环境— 课程概要</vt:lpstr>
      <vt:lpstr>Linux常用命令</vt:lpstr>
      <vt:lpstr>Linux常用命令— 课程概要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Linux常用命令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模板使用说明</dc:title>
  <dc:creator>张久</dc:creator>
  <cp:lastModifiedBy>Administrator</cp:lastModifiedBy>
  <cp:revision>293</cp:revision>
  <dcterms:created xsi:type="dcterms:W3CDTF">2015-03-23T11:35:00Z</dcterms:created>
  <dcterms:modified xsi:type="dcterms:W3CDTF">2017-06-15T13:10:17Z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